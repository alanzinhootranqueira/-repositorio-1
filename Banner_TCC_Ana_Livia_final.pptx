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Lst>
  <p:sldSz cx="32399288" cy="35999738"/>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C1A16773-EC26-4F1E-A51B-0E7958F5663F}" type="slidenum">
              <a:t>&lt;#&gt;</a:t>
            </a:fld>
          </a:p>
        </p:txBody>
      </p:sp>
      <p:sp>
        <p:nvSpPr>
          <p:cNvPr id="4" name="PlaceHolder 3"/>
          <p:cNvSpPr>
            <a:spLocks noGrp="1"/>
          </p:cNvSpPr>
          <p:nvPr>
            <p:ph type="dt" idx="1"/>
          </p:nvPr>
        </p:nvSpPr>
        <p:spPr/>
        <p:txBody>
          <a:bodyPr/>
          <a:p>
            <a:r>
              <a:rPr lang="en-US"/>
              <a:t/>
            </a: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620720" y="1441080"/>
            <a:ext cx="29157840" cy="6000840"/>
          </a:xfrm>
          <a:prstGeom prst="rect">
            <a:avLst/>
          </a:prstGeom>
          <a:noFill/>
          <a:ln w="0">
            <a:noFill/>
          </a:ln>
        </p:spPr>
        <p:txBody>
          <a:bodyPr lIns="390960" rIns="390960" tIns="195480" bIns="195480" anchor="ctr">
            <a:noAutofit/>
          </a:bodyPr>
          <a:p>
            <a:pPr indent="0" algn="ctr">
              <a:buNone/>
              <a:tabLst>
                <a:tab algn="l" pos="0"/>
                <a:tab algn="l" pos="3908520"/>
                <a:tab algn="l" pos="7816680"/>
              </a:tabLst>
            </a:pPr>
            <a:r>
              <a:rPr b="0" lang="en-US" sz="18800" spc="-1" strike="noStrike">
                <a:solidFill>
                  <a:srgbClr val="000000"/>
                </a:solidFill>
                <a:latin typeface="Calibri"/>
              </a:rPr>
              <a:t>Click to edit the title text format</a:t>
            </a:r>
            <a:endParaRPr b="0" lang="en-US" sz="18800" spc="-1" strike="noStrike">
              <a:solidFill>
                <a:srgbClr val="000000"/>
              </a:solidFill>
              <a:latin typeface="Calibri"/>
            </a:endParaRPr>
          </a:p>
        </p:txBody>
      </p:sp>
      <p:sp>
        <p:nvSpPr>
          <p:cNvPr id="1" name="PlaceHolder 2"/>
          <p:cNvSpPr>
            <a:spLocks noGrp="1"/>
          </p:cNvSpPr>
          <p:nvPr>
            <p:ph type="body"/>
          </p:nvPr>
        </p:nvSpPr>
        <p:spPr>
          <a:xfrm>
            <a:off x="1620720" y="8399520"/>
            <a:ext cx="29157840" cy="23758560"/>
          </a:xfrm>
          <a:prstGeom prst="rect">
            <a:avLst/>
          </a:prstGeom>
          <a:noFill/>
          <a:ln w="0">
            <a:noFill/>
          </a:ln>
        </p:spPr>
        <p:txBody>
          <a:bodyPr lIns="390960" rIns="390960" tIns="195480" bIns="195480" anchor="t">
            <a:normAutofit/>
          </a:bodyPr>
          <a:p>
            <a:pPr marL="1465200" indent="-146520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Click to edit the outline text format</a:t>
            </a:r>
            <a:endParaRPr b="0" lang="en-US" sz="13700" spc="-1" strike="noStrike">
              <a:solidFill>
                <a:srgbClr val="000000"/>
              </a:solidFill>
              <a:latin typeface="Calibri"/>
            </a:endParaRPr>
          </a:p>
          <a:p>
            <a:pPr lvl="1" marL="3174840" indent="-122076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Second Outline Level</a:t>
            </a:r>
            <a:endParaRPr b="0" lang="en-US" sz="13700" spc="-1" strike="noStrike">
              <a:solidFill>
                <a:srgbClr val="000000"/>
              </a:solidFill>
              <a:latin typeface="Calibri"/>
            </a:endParaRPr>
          </a:p>
          <a:p>
            <a:pPr lvl="2" marL="4886280" indent="-97632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Third Outline Level</a:t>
            </a:r>
            <a:endParaRPr b="0" lang="en-US" sz="13700" spc="-1" strike="noStrike">
              <a:solidFill>
                <a:srgbClr val="000000"/>
              </a:solidFill>
              <a:latin typeface="Calibri"/>
            </a:endParaRPr>
          </a:p>
          <a:p>
            <a:pPr lvl="3" marL="6840360" indent="-97596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Fourth Outline Level</a:t>
            </a:r>
            <a:endParaRPr b="0" lang="en-US" sz="13700" spc="-1" strike="noStrike">
              <a:solidFill>
                <a:srgbClr val="000000"/>
              </a:solidFill>
              <a:latin typeface="Calibri"/>
            </a:endParaRPr>
          </a:p>
          <a:p>
            <a:pPr lvl="4" marL="8794800" indent="-97632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Fifth Outline Level</a:t>
            </a:r>
            <a:endParaRPr b="0" lang="en-US" sz="13700" spc="-1" strike="noStrike">
              <a:solidFill>
                <a:srgbClr val="000000"/>
              </a:solidFill>
              <a:latin typeface="Calibri"/>
            </a:endParaRPr>
          </a:p>
          <a:p>
            <a:pPr lvl="5" marL="8794800" indent="-97632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Sixth Outline Level</a:t>
            </a:r>
            <a:endParaRPr b="0" lang="en-US" sz="13700" spc="-1" strike="noStrike">
              <a:solidFill>
                <a:srgbClr val="000000"/>
              </a:solidFill>
              <a:latin typeface="Calibri"/>
            </a:endParaRPr>
          </a:p>
          <a:p>
            <a:pPr lvl="6" marL="8794800" indent="-97632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Seventh Outline Level</a:t>
            </a:r>
            <a:endParaRPr b="0" lang="en-US" sz="13700" spc="-1" strike="noStrike">
              <a:solidFill>
                <a:srgbClr val="000000"/>
              </a:solidFill>
              <a:latin typeface="Calibri"/>
            </a:endParaRPr>
          </a:p>
        </p:txBody>
      </p:sp>
      <p:sp>
        <p:nvSpPr>
          <p:cNvPr id="2" name="PlaceHolder 3"/>
          <p:cNvSpPr>
            <a:spLocks noGrp="1"/>
          </p:cNvSpPr>
          <p:nvPr>
            <p:ph type="dt" idx="1"/>
          </p:nvPr>
        </p:nvSpPr>
        <p:spPr>
          <a:xfrm>
            <a:off x="1620360" y="33366240"/>
            <a:ext cx="7558200" cy="1917360"/>
          </a:xfrm>
          <a:prstGeom prst="rect">
            <a:avLst/>
          </a:prstGeom>
          <a:noFill/>
          <a:ln w="0">
            <a:noFill/>
          </a:ln>
        </p:spPr>
        <p:txBody>
          <a:bodyPr lIns="390960" rIns="390960" tIns="195480" bIns="195480" anchor="ctr">
            <a:noAutofit/>
          </a:bodyPr>
          <a:lstStyle>
            <a:lvl1pPr indent="0">
              <a:lnSpc>
                <a:spcPct val="100000"/>
              </a:lnSpc>
              <a:buNone/>
              <a:tabLst>
                <a:tab algn="l" pos="0"/>
                <a:tab algn="l" pos="3535200"/>
                <a:tab algn="l" pos="7070760"/>
                <a:tab algn="l" pos="10605960"/>
              </a:tabLst>
              <a:defRPr b="0" lang="pt-BR" sz="5100" spc="-1" strike="noStrike">
                <a:solidFill>
                  <a:srgbClr val="898989"/>
                </a:solidFill>
                <a:latin typeface="Calibri"/>
              </a:defRPr>
            </a:lvl1pPr>
          </a:lstStyle>
          <a:p>
            <a:pPr indent="0">
              <a:lnSpc>
                <a:spcPct val="100000"/>
              </a:lnSpc>
              <a:buNone/>
              <a:tabLst>
                <a:tab algn="l" pos="0"/>
                <a:tab algn="l" pos="3535200"/>
                <a:tab algn="l" pos="7070760"/>
                <a:tab algn="l" pos="10605960"/>
              </a:tabLst>
            </a:pPr>
            <a:r>
              <a:rPr b="0" lang="pt-BR" sz="5100" spc="-1" strike="noStrike">
                <a:solidFill>
                  <a:srgbClr val="898989"/>
                </a:solidFill>
                <a:latin typeface="Calibri"/>
              </a:rPr>
              <a:t>&lt;date/time&gt;</a:t>
            </a:r>
            <a:endParaRPr b="0" lang="en-US" sz="5100" spc="-1" strike="noStrike">
              <a:solidFill>
                <a:srgbClr val="000000"/>
              </a:solidFill>
              <a:latin typeface="Arial"/>
            </a:endParaRPr>
          </a:p>
        </p:txBody>
      </p:sp>
      <p:sp>
        <p:nvSpPr>
          <p:cNvPr id="3" name="PlaceHolder 4"/>
          <p:cNvSpPr>
            <a:spLocks noGrp="1"/>
          </p:cNvSpPr>
          <p:nvPr>
            <p:ph type="ftr" idx="2"/>
          </p:nvPr>
        </p:nvSpPr>
        <p:spPr>
          <a:xfrm>
            <a:off x="11069640" y="33366240"/>
            <a:ext cx="10260000" cy="1917360"/>
          </a:xfrm>
          <a:prstGeom prst="rect">
            <a:avLst/>
          </a:prstGeom>
          <a:noFill/>
          <a:ln w="0">
            <a:noFill/>
          </a:ln>
        </p:spPr>
        <p:txBody>
          <a:bodyPr lIns="390960" rIns="390960" tIns="195480" bIns="195480" anchor="ctr">
            <a:noAutofit/>
          </a:bodyPr>
          <a:p>
            <a:pPr indent="0">
              <a:buNone/>
              <a:tabLst>
                <a:tab algn="l" pos="0"/>
                <a:tab algn="l" pos="3535200"/>
                <a:tab algn="l" pos="7070760"/>
                <a:tab algn="l" pos="10605960"/>
              </a:tabLst>
            </a:pPr>
            <a:endParaRPr b="0" lang="en-US" sz="6900" spc="-1" strike="noStrike">
              <a:solidFill>
                <a:srgbClr val="000000"/>
              </a:solidFill>
              <a:latin typeface="Arial"/>
            </a:endParaRPr>
          </a:p>
        </p:txBody>
      </p:sp>
      <p:sp>
        <p:nvSpPr>
          <p:cNvPr id="4" name="PlaceHolder 5"/>
          <p:cNvSpPr>
            <a:spLocks noGrp="1"/>
          </p:cNvSpPr>
          <p:nvPr>
            <p:ph type="sldNum" idx="3"/>
          </p:nvPr>
        </p:nvSpPr>
        <p:spPr>
          <a:xfrm>
            <a:off x="23220000" y="33366240"/>
            <a:ext cx="7558200" cy="1917360"/>
          </a:xfrm>
          <a:prstGeom prst="rect">
            <a:avLst/>
          </a:prstGeom>
          <a:noFill/>
          <a:ln w="0">
            <a:noFill/>
          </a:ln>
        </p:spPr>
        <p:txBody>
          <a:bodyPr lIns="390960" rIns="390960" tIns="195480" bIns="195480" anchor="ctr">
            <a:noAutofit/>
          </a:bodyPr>
          <a:lstStyle>
            <a:lvl1pPr indent="0" algn="r">
              <a:lnSpc>
                <a:spcPct val="100000"/>
              </a:lnSpc>
              <a:buNone/>
              <a:tabLst>
                <a:tab algn="l" pos="0"/>
                <a:tab algn="l" pos="3535200"/>
                <a:tab algn="l" pos="7070760"/>
                <a:tab algn="l" pos="10605960"/>
              </a:tabLst>
              <a:defRPr b="0" lang="pt-BR" sz="5100" spc="-1" strike="noStrike">
                <a:solidFill>
                  <a:srgbClr val="898989"/>
                </a:solidFill>
                <a:latin typeface="Calibri"/>
              </a:defRPr>
            </a:lvl1pPr>
          </a:lstStyle>
          <a:p>
            <a:pPr indent="0" algn="r">
              <a:lnSpc>
                <a:spcPct val="100000"/>
              </a:lnSpc>
              <a:buNone/>
              <a:tabLst>
                <a:tab algn="l" pos="0"/>
                <a:tab algn="l" pos="3535200"/>
                <a:tab algn="l" pos="7070760"/>
                <a:tab algn="l" pos="10605960"/>
              </a:tabLst>
            </a:pPr>
            <a:fld id="{8B2D8933-C955-425E-BF02-2F26B315226D}" type="slidenum">
              <a:rPr b="0" lang="pt-BR" sz="5100" spc="-1" strike="noStrike">
                <a:solidFill>
                  <a:srgbClr val="898989"/>
                </a:solidFill>
                <a:latin typeface="Calibri"/>
              </a:rPr>
              <a:t>&lt;number&gt;</a:t>
            </a:fld>
            <a:endParaRPr b="0" lang="en-US" sz="51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 name="Text Box 7"/>
          <p:cNvSpPr/>
          <p:nvPr/>
        </p:nvSpPr>
        <p:spPr>
          <a:xfrm>
            <a:off x="1684440" y="5813280"/>
            <a:ext cx="30314880" cy="703440"/>
          </a:xfrm>
          <a:prstGeom prst="rect">
            <a:avLst/>
          </a:prstGeom>
          <a:noFill/>
          <a:ln w="0">
            <a:noFill/>
          </a:ln>
        </p:spPr>
        <p:style>
          <a:lnRef idx="0"/>
          <a:fillRef idx="0"/>
          <a:effectRef idx="0"/>
          <a:fontRef idx="minor"/>
        </p:style>
        <p:txBody>
          <a:bodyPr lIns="90000" rIns="90000" tIns="46800" bIns="46800" anchor="t">
            <a:spAutoFit/>
          </a:bodyPr>
          <a:p>
            <a:pPr algn="ctr">
              <a:lnSpc>
                <a:spcPct val="100000"/>
              </a:lnSpc>
              <a:spcBef>
                <a:spcPts val="1001"/>
              </a:spcBef>
              <a:tabLst>
                <a:tab algn="l" pos="0"/>
                <a:tab algn="l" pos="3535200"/>
                <a:tab algn="l" pos="7070760"/>
                <a:tab algn="l" pos="10605960"/>
              </a:tabLst>
            </a:pPr>
            <a:r>
              <a:rPr b="0" lang="pt-BR" sz="4000" spc="-1" strike="noStrike">
                <a:solidFill>
                  <a:srgbClr val="000000"/>
                </a:solidFill>
                <a:latin typeface="Times New Roman"/>
                <a:ea typeface="Times New Roman"/>
              </a:rPr>
              <a:t>Ana Lívia Alexandre Monteiro¹; Antonieta Lima Brauer²</a:t>
            </a:r>
            <a:endParaRPr b="0" lang="en-US" sz="4000" spc="-1" strike="noStrike">
              <a:solidFill>
                <a:srgbClr val="000000"/>
              </a:solidFill>
              <a:latin typeface="Arial"/>
            </a:endParaRPr>
          </a:p>
        </p:txBody>
      </p:sp>
      <p:sp>
        <p:nvSpPr>
          <p:cNvPr id="6" name="Text Box 7"/>
          <p:cNvSpPr/>
          <p:nvPr/>
        </p:nvSpPr>
        <p:spPr>
          <a:xfrm>
            <a:off x="-90360" y="579600"/>
            <a:ext cx="32259600" cy="1434600"/>
          </a:xfrm>
          <a:prstGeom prst="rect">
            <a:avLst/>
          </a:prstGeom>
          <a:noFill/>
          <a:ln w="0">
            <a:noFill/>
          </a:ln>
        </p:spPr>
        <p:style>
          <a:lnRef idx="0"/>
          <a:fillRef idx="0"/>
          <a:effectRef idx="0"/>
          <a:fontRef idx="minor"/>
        </p:style>
        <p:txBody>
          <a:bodyPr lIns="90000" rIns="90000" tIns="46800" bIns="46800" anchor="t">
            <a:spAutoFit/>
          </a:bodyPr>
          <a:p>
            <a:pPr algn="ctr">
              <a:lnSpc>
                <a:spcPct val="100000"/>
              </a:lnSpc>
              <a:tabLst>
                <a:tab algn="l" pos="0"/>
                <a:tab algn="l" pos="3535200"/>
                <a:tab algn="l" pos="7070760"/>
                <a:tab algn="l" pos="10605960"/>
              </a:tabLst>
            </a:pPr>
            <a:r>
              <a:rPr b="1" lang="pt-BR" sz="4400" spc="-1" strike="noStrike">
                <a:solidFill>
                  <a:srgbClr val="000000"/>
                </a:solidFill>
                <a:latin typeface="Times New Roman"/>
                <a:ea typeface="Times New Roman"/>
              </a:rPr>
              <a:t>Centro Universitário Sudoeste Paulista</a:t>
            </a:r>
            <a:endParaRPr b="0" lang="en-US" sz="4400" spc="-1" strike="noStrike">
              <a:solidFill>
                <a:srgbClr val="000000"/>
              </a:solidFill>
              <a:latin typeface="Arial"/>
            </a:endParaRPr>
          </a:p>
          <a:p>
            <a:pPr algn="ctr">
              <a:lnSpc>
                <a:spcPct val="100000"/>
              </a:lnSpc>
              <a:tabLst>
                <a:tab algn="l" pos="0"/>
                <a:tab algn="l" pos="3535200"/>
                <a:tab algn="l" pos="7070760"/>
                <a:tab algn="l" pos="10605960"/>
              </a:tabLst>
            </a:pPr>
            <a:r>
              <a:rPr b="0" lang="pt-BR" sz="4400" spc="-1" strike="noStrike">
                <a:solidFill>
                  <a:srgbClr val="000000"/>
                </a:solidFill>
                <a:latin typeface="Times New Roman"/>
                <a:ea typeface="Times New Roman"/>
              </a:rPr>
              <a:t>(Mantida pela ICE – Instituição Chaddad de Ensino  Ltda)</a:t>
            </a:r>
            <a:endParaRPr b="0" lang="en-US" sz="4400" spc="-1" strike="noStrike">
              <a:solidFill>
                <a:srgbClr val="000000"/>
              </a:solidFill>
              <a:latin typeface="Arial"/>
            </a:endParaRPr>
          </a:p>
        </p:txBody>
      </p:sp>
      <p:sp>
        <p:nvSpPr>
          <p:cNvPr id="7" name="Retângulo 22"/>
          <p:cNvSpPr/>
          <p:nvPr/>
        </p:nvSpPr>
        <p:spPr>
          <a:xfrm>
            <a:off x="1165320" y="6880320"/>
            <a:ext cx="30818160" cy="1312920"/>
          </a:xfrm>
          <a:prstGeom prst="rect">
            <a:avLst/>
          </a:prstGeom>
          <a:noFill/>
          <a:ln w="0">
            <a:noFill/>
          </a:ln>
        </p:spPr>
        <p:style>
          <a:lnRef idx="0"/>
          <a:fillRef idx="0"/>
          <a:effectRef idx="0"/>
          <a:fontRef idx="minor"/>
        </p:style>
        <p:txBody>
          <a:bodyPr lIns="90000" rIns="90000" tIns="46800" bIns="46800" anchor="t">
            <a:spAutoFit/>
          </a:bodyPr>
          <a:p>
            <a:pPr algn="ctr">
              <a:lnSpc>
                <a:spcPct val="100000"/>
              </a:lnSpc>
              <a:spcBef>
                <a:spcPts val="1001"/>
              </a:spcBef>
              <a:tabLst>
                <a:tab algn="l" pos="0"/>
                <a:tab algn="l" pos="3535200"/>
                <a:tab algn="l" pos="7070760"/>
                <a:tab algn="l" pos="10605960"/>
              </a:tabLst>
            </a:pPr>
            <a:r>
              <a:rPr b="0" lang="pt-BR" sz="4000" spc="-1" strike="noStrike">
                <a:solidFill>
                  <a:srgbClr val="000000"/>
                </a:solidFill>
                <a:latin typeface="Times New Roman"/>
                <a:ea typeface="Times New Roman"/>
              </a:rPr>
              <a:t>¹</a:t>
            </a:r>
            <a:r>
              <a:rPr b="0" lang="pt-BR" sz="4000" spc="-1" strike="noStrike">
                <a:solidFill>
                  <a:srgbClr val="000000"/>
                </a:solidFill>
                <a:latin typeface="Times New Roman"/>
                <a:ea typeface="Times New Roman"/>
              </a:rPr>
              <a:t>Aluna do Curso de Direito do Centro Universitário Sudoeste Paulista –UniFSP, Avaré/SP; ²Professora Orientadora do Centro Universitário Sudoeste Paulista – UniFSP, Avaré/SP.</a:t>
            </a:r>
            <a:endParaRPr b="0" lang="en-US" sz="4000" spc="-1" strike="noStrike">
              <a:solidFill>
                <a:srgbClr val="000000"/>
              </a:solidFill>
              <a:latin typeface="Arial"/>
            </a:endParaRPr>
          </a:p>
        </p:txBody>
      </p:sp>
      <p:pic>
        <p:nvPicPr>
          <p:cNvPr id="8" name="Imagem 6" descr=""/>
          <p:cNvPicPr/>
          <p:nvPr/>
        </p:nvPicPr>
        <p:blipFill>
          <a:blip r:embed="rId1"/>
          <a:stretch/>
        </p:blipFill>
        <p:spPr>
          <a:xfrm>
            <a:off x="933480" y="811080"/>
            <a:ext cx="6561000" cy="3767400"/>
          </a:xfrm>
          <a:prstGeom prst="rect">
            <a:avLst/>
          </a:prstGeom>
          <a:ln w="0">
            <a:noFill/>
          </a:ln>
        </p:spPr>
      </p:pic>
      <p:pic>
        <p:nvPicPr>
          <p:cNvPr id="9" name="Picture 20" descr="Resultado de imagem para logotipo do curso de direito"/>
          <p:cNvPicPr/>
          <p:nvPr/>
        </p:nvPicPr>
        <p:blipFill>
          <a:blip r:embed="rId2"/>
          <a:stretch/>
        </p:blipFill>
        <p:spPr>
          <a:xfrm>
            <a:off x="27416160" y="299880"/>
            <a:ext cx="4567320" cy="4246560"/>
          </a:xfrm>
          <a:prstGeom prst="rect">
            <a:avLst/>
          </a:prstGeom>
          <a:ln w="0">
            <a:noFill/>
          </a:ln>
        </p:spPr>
      </p:pic>
      <p:sp>
        <p:nvSpPr>
          <p:cNvPr id="10" name="CaixaDeTexto 12"/>
          <p:cNvSpPr/>
          <p:nvPr/>
        </p:nvSpPr>
        <p:spPr>
          <a:xfrm>
            <a:off x="6235560" y="2265480"/>
            <a:ext cx="21285360" cy="3385800"/>
          </a:xfrm>
          <a:prstGeom prst="rect">
            <a:avLst/>
          </a:prstGeom>
          <a:noFill/>
          <a:ln w="0">
            <a:noFill/>
          </a:ln>
        </p:spPr>
        <p:style>
          <a:lnRef idx="0"/>
          <a:fillRef idx="0"/>
          <a:effectRef idx="0"/>
          <a:fontRef idx="minor"/>
        </p:style>
        <p:txBody>
          <a:bodyPr lIns="90000" rIns="90000" tIns="46800" bIns="46800" anchor="t">
            <a:spAutoFit/>
          </a:bodyPr>
          <a:p>
            <a:pPr algn="ctr">
              <a:lnSpc>
                <a:spcPct val="100000"/>
              </a:lnSpc>
              <a:tabLst>
                <a:tab algn="l" pos="0"/>
                <a:tab algn="l" pos="3535200"/>
                <a:tab algn="l" pos="7070760"/>
                <a:tab algn="l" pos="10605960"/>
              </a:tabLst>
            </a:pPr>
            <a:r>
              <a:rPr b="1" lang="pt-BR" sz="5400" spc="-1" strike="noStrike">
                <a:solidFill>
                  <a:srgbClr val="000000"/>
                </a:solidFill>
                <a:latin typeface="Times New Roman"/>
                <a:ea typeface="Times New Roman"/>
              </a:rPr>
              <a:t>REPRODUÇÃO ASSISTIDA PÓSTUMA E OS DIREITOS SUCESSÓRIOS: O </a:t>
            </a:r>
            <a:r>
              <a:rPr b="1" i="1" lang="pt-BR" sz="5400" spc="-1" strike="noStrike">
                <a:solidFill>
                  <a:srgbClr val="000000"/>
                </a:solidFill>
                <a:latin typeface="Times New Roman"/>
                <a:ea typeface="Times New Roman"/>
              </a:rPr>
              <a:t>STATUS</a:t>
            </a:r>
            <a:r>
              <a:rPr b="1" lang="pt-BR" sz="5400" spc="-1" strike="noStrike">
                <a:solidFill>
                  <a:srgbClr val="000000"/>
                </a:solidFill>
                <a:latin typeface="Times New Roman"/>
                <a:ea typeface="Times New Roman"/>
              </a:rPr>
              <a:t> JURÍDICO DO EMBRIÃO CRIOPRESERVADO E O DIREITO À HERANÇA APÓS A MORTE DE UM DOS GENITORES</a:t>
            </a:r>
            <a:endParaRPr b="0" lang="en-US" sz="5400" spc="-1" strike="noStrike">
              <a:solidFill>
                <a:srgbClr val="000000"/>
              </a:solidFill>
              <a:latin typeface="Arial"/>
            </a:endParaRPr>
          </a:p>
        </p:txBody>
      </p:sp>
      <p:sp>
        <p:nvSpPr>
          <p:cNvPr id="11" name="CaixaDeTexto 1"/>
          <p:cNvSpPr/>
          <p:nvPr/>
        </p:nvSpPr>
        <p:spPr>
          <a:xfrm>
            <a:off x="1182600" y="8696160"/>
            <a:ext cx="3714840" cy="627480"/>
          </a:xfrm>
          <a:prstGeom prst="rect">
            <a:avLst/>
          </a:prstGeom>
          <a:noFill/>
          <a:ln w="0">
            <a:noFill/>
          </a:ln>
        </p:spPr>
        <p:style>
          <a:lnRef idx="0"/>
          <a:fillRef idx="0"/>
          <a:effectRef idx="0"/>
          <a:fontRef idx="minor"/>
        </p:style>
        <p:txBody>
          <a:bodyPr wrap="none" lIns="90000" rIns="90000" tIns="46800" bIns="46800" anchor="t">
            <a:spAutoFit/>
          </a:bodyPr>
          <a:p>
            <a:pPr algn="ctr">
              <a:lnSpc>
                <a:spcPct val="100000"/>
              </a:lnSpc>
              <a:tabLst>
                <a:tab algn="l" pos="0"/>
                <a:tab algn="l" pos="3535200"/>
                <a:tab algn="l" pos="7070760"/>
                <a:tab algn="l" pos="10605960"/>
              </a:tabLst>
            </a:pPr>
            <a:r>
              <a:rPr b="1" lang="pt-BR" sz="3500" spc="-1" strike="noStrike">
                <a:solidFill>
                  <a:srgbClr val="000000"/>
                </a:solidFill>
                <a:latin typeface="Times New Roman"/>
                <a:ea typeface="Times New Roman"/>
              </a:rPr>
              <a:t>1. INTRODUÇÃO</a:t>
            </a:r>
            <a:endParaRPr b="0" lang="en-US" sz="3500" spc="-1" strike="noStrike">
              <a:solidFill>
                <a:srgbClr val="000000"/>
              </a:solidFill>
              <a:latin typeface="Arial"/>
            </a:endParaRPr>
          </a:p>
        </p:txBody>
      </p:sp>
      <p:sp>
        <p:nvSpPr>
          <p:cNvPr id="12" name="CaixaDeTexto 2"/>
          <p:cNvSpPr/>
          <p:nvPr/>
        </p:nvSpPr>
        <p:spPr>
          <a:xfrm>
            <a:off x="1166760" y="9328320"/>
            <a:ext cx="15105240" cy="12098160"/>
          </a:xfrm>
          <a:prstGeom prst="rect">
            <a:avLst/>
          </a:prstGeom>
          <a:noFill/>
          <a:ln w="0">
            <a:noFill/>
          </a:ln>
        </p:spPr>
        <p:style>
          <a:lnRef idx="0"/>
          <a:fillRef idx="0"/>
          <a:effectRef idx="0"/>
          <a:fontRef idx="minor"/>
        </p:style>
        <p:txBody>
          <a:bodyPr lIns="90000" rIns="90000" tIns="46800" bIns="46800" anchor="t">
            <a:spAutoFit/>
          </a:bodyPr>
          <a:p>
            <a:pPr algn="just">
              <a:lnSpc>
                <a:spcPct val="130000"/>
              </a:lnSpc>
              <a:tabLst>
                <a:tab algn="l" pos="0"/>
                <a:tab algn="l" pos="1608120"/>
                <a:tab algn="l" pos="3216240"/>
                <a:tab algn="l" pos="4824360"/>
                <a:tab algn="l" pos="6432480"/>
                <a:tab algn="l" pos="8040600"/>
                <a:tab algn="l" pos="9648720"/>
              </a:tabLst>
            </a:pPr>
            <a:r>
              <a:rPr b="0" lang="pt-BR" sz="3500" spc="-1" strike="noStrike">
                <a:solidFill>
                  <a:srgbClr val="000000"/>
                </a:solidFill>
                <a:latin typeface="Times New Roman"/>
                <a:ea typeface="Times New Roman"/>
              </a:rPr>
              <a:t>	</a:t>
            </a:r>
            <a:r>
              <a:rPr b="0" lang="pt-BR" sz="3500" spc="-1" strike="noStrike">
                <a:solidFill>
                  <a:srgbClr val="000000"/>
                </a:solidFill>
                <a:latin typeface="Times New Roman"/>
                <a:ea typeface="Times New Roman"/>
              </a:rPr>
              <a:t>O avanço das técnicas de reprodução humana assistida tornou possível que a concepção ocorra fora do corpo humano e que embriões sejam criopreservados por tempo indeterminado, inclusive após a morte de um dos genitores </a:t>
            </a:r>
            <a:r>
              <a:rPr b="0" lang="pt-BR" sz="3500" spc="-1" strike="noStrike">
                <a:solidFill>
                  <a:srgbClr val="000000"/>
                </a:solidFill>
                <a:latin typeface="Times New Roman"/>
                <a:ea typeface="Times New Roman"/>
              </a:rPr>
              <a:t>(ARAUJO; ARAUJO, 2018, p. 223)</a:t>
            </a:r>
            <a:r>
              <a:rPr b="0" lang="pt-BR" sz="3500" spc="-1" strike="noStrike">
                <a:solidFill>
                  <a:srgbClr val="000000"/>
                </a:solidFill>
                <a:latin typeface="Times New Roman"/>
                <a:ea typeface="Times New Roman"/>
              </a:rPr>
              <a:t>. Essa possibilidade coloca em xeque institutos tradicionais do direito sucessório brasileiro: o princípio da Saisine e a capacidade sucessória passiva (arts. 1.784 e 1.798 do Código Civil) pressupõem que o herdeiro já exista ou esteja concebido na abertura da sucessão, pressuposto que a criança concebida por reprodução assistida póstuma, por definição, não satisfaz </a:t>
            </a:r>
            <a:r>
              <a:rPr b="0" lang="pt-BR" sz="3500" spc="-1" strike="noStrike">
                <a:solidFill>
                  <a:srgbClr val="000000"/>
                </a:solidFill>
                <a:latin typeface="Times New Roman"/>
                <a:ea typeface="Times New Roman"/>
              </a:rPr>
              <a:t>(GONÇALVES, 2026, p. 13)</a:t>
            </a:r>
            <a:r>
              <a:rPr b="0" lang="pt-BR" sz="3500" spc="-1" strike="noStrike">
                <a:solidFill>
                  <a:srgbClr val="000000"/>
                </a:solidFill>
                <a:latin typeface="Times New Roman"/>
                <a:ea typeface="Times New Roman"/>
              </a:rPr>
              <a:t>. O presente trabalho tem por objetivo analisar o </a:t>
            </a:r>
            <a:r>
              <a:rPr b="0" lang="pt-BR" sz="3500" spc="-1" strike="noStrike" i="1">
                <a:solidFill>
                  <a:srgbClr val="000000"/>
                </a:solidFill>
                <a:latin typeface="Times New Roman"/>
                <a:ea typeface="Times New Roman"/>
              </a:rPr>
              <a:t>status</a:t>
            </a:r>
            <a:r>
              <a:rPr b="0" lang="pt-BR" sz="3500" spc="-1" strike="noStrike">
                <a:solidFill>
                  <a:srgbClr val="000000"/>
                </a:solidFill>
                <a:latin typeface="Times New Roman"/>
                <a:ea typeface="Times New Roman"/>
              </a:rPr>
              <a:t> jurídico do embrião criopreservado e o direito à herança dessa criança, à luz da doutrina, da legislação e da jurisprudência do Superior Tribunal de Justiça. Para tanto, realizou-se pesquisa bibliográfica sobre a legislação, a doutrina, a jurisprudência e o anteprojeto de revisão do Código Civil (2026) pertinentes ao tema.</a:t>
            </a:r>
            <a:endParaRPr b="0" lang="en-US" sz="3500" spc="-1" strike="noStrike">
              <a:solidFill>
                <a:srgbClr val="000000"/>
              </a:solidFill>
              <a:latin typeface="Arial"/>
            </a:endParaRPr>
          </a:p>
          <a:p>
            <a:pPr algn="just">
              <a:lnSpc>
                <a:spcPct val="130000"/>
              </a:lnSpc>
              <a:tabLst>
                <a:tab algn="l" pos="0"/>
                <a:tab algn="l" pos="1608120"/>
                <a:tab algn="l" pos="3216240"/>
                <a:tab algn="l" pos="4824360"/>
                <a:tab algn="l" pos="6432480"/>
                <a:tab algn="l" pos="8040600"/>
                <a:tab algn="l" pos="9648720"/>
              </a:tabLst>
            </a:pPr>
            <a:endParaRPr b="0" lang="en-US" sz="3500" spc="-1" strike="noStrike">
              <a:solidFill>
                <a:srgbClr val="000000"/>
              </a:solidFill>
              <a:latin typeface="Arial"/>
            </a:endParaRPr>
          </a:p>
          <a:p>
            <a:pPr algn="just">
              <a:lnSpc>
                <a:spcPct val="130000"/>
              </a:lnSpc>
              <a:tabLst>
                <a:tab algn="l" pos="0"/>
                <a:tab algn="l" pos="1608120"/>
                <a:tab algn="l" pos="3216240"/>
                <a:tab algn="l" pos="4824360"/>
                <a:tab algn="l" pos="6432480"/>
                <a:tab algn="l" pos="8040600"/>
                <a:tab algn="l" pos="9648720"/>
              </a:tabLst>
            </a:pPr>
            <a:endParaRPr b="0" lang="en-US" sz="3500" spc="-1" strike="noStrike">
              <a:solidFill>
                <a:srgbClr val="000000"/>
              </a:solidFill>
              <a:latin typeface="Arial"/>
            </a:endParaRPr>
          </a:p>
          <a:p>
            <a:pPr algn="just">
              <a:lnSpc>
                <a:spcPct val="130000"/>
              </a:lnSpc>
              <a:tabLst>
                <a:tab algn="l" pos="0"/>
                <a:tab algn="l" pos="1608120"/>
                <a:tab algn="l" pos="3216240"/>
                <a:tab algn="l" pos="4824360"/>
                <a:tab algn="l" pos="6432480"/>
                <a:tab algn="l" pos="8040600"/>
                <a:tab algn="l" pos="9648720"/>
              </a:tabLst>
            </a:pPr>
            <a:endParaRPr b="0" lang="en-US" sz="3500" spc="-1" strike="noStrike">
              <a:solidFill>
                <a:srgbClr val="000000"/>
              </a:solidFill>
              <a:latin typeface="Arial"/>
            </a:endParaRPr>
          </a:p>
          <a:p>
            <a:pPr algn="just">
              <a:lnSpc>
                <a:spcPct val="130000"/>
              </a:lnSpc>
              <a:tabLst>
                <a:tab algn="l" pos="0"/>
                <a:tab algn="l" pos="1608120"/>
                <a:tab algn="l" pos="3216240"/>
                <a:tab algn="l" pos="4824360"/>
                <a:tab algn="l" pos="6432480"/>
                <a:tab algn="l" pos="8040600"/>
                <a:tab algn="l" pos="9648720"/>
              </a:tabLst>
            </a:pPr>
            <a:endParaRPr b="0" lang="en-US" sz="3500" spc="-1" strike="noStrike">
              <a:solidFill>
                <a:srgbClr val="000000"/>
              </a:solidFill>
              <a:latin typeface="Arial"/>
            </a:endParaRPr>
          </a:p>
        </p:txBody>
      </p:sp>
      <p:sp>
        <p:nvSpPr>
          <p:cNvPr id="13" name="Retângulo 4"/>
          <p:cNvSpPr/>
          <p:nvPr/>
        </p:nvSpPr>
        <p:spPr>
          <a:xfrm>
            <a:off x="1182600" y="19440000"/>
            <a:ext cx="16198920" cy="627480"/>
          </a:xfrm>
          <a:prstGeom prst="rect">
            <a:avLst/>
          </a:prstGeom>
          <a:noFill/>
          <a:ln w="0">
            <a:noFill/>
          </a:ln>
        </p:spPr>
        <p:style>
          <a:lnRef idx="0"/>
          <a:fillRef idx="0"/>
          <a:effectRef idx="0"/>
          <a:fontRef idx="minor"/>
        </p:style>
        <p:txBody>
          <a:bodyPr lIns="90000" rIns="90000" tIns="46800" bIns="46800" anchor="t">
            <a:spAutoFit/>
          </a:bodyPr>
          <a:p>
            <a:pPr>
              <a:lnSpc>
                <a:spcPct val="100000"/>
              </a:lnSpc>
              <a:tabLst>
                <a:tab algn="l" pos="0"/>
                <a:tab algn="l" pos="3535200"/>
                <a:tab algn="l" pos="7070760"/>
                <a:tab algn="l" pos="10605960"/>
              </a:tabLst>
            </a:pPr>
            <a:r>
              <a:rPr b="1" lang="pt-BR" sz="3500" spc="-1" strike="noStrike">
                <a:solidFill>
                  <a:srgbClr val="000000"/>
                </a:solidFill>
                <a:latin typeface="Times New Roman"/>
                <a:ea typeface="Calibri"/>
              </a:rPr>
              <a:t>2. REFERENCIAL TEÓRICO</a:t>
            </a:r>
            <a:endParaRPr b="0" lang="en-US" sz="3500" spc="-1" strike="noStrike">
              <a:solidFill>
                <a:srgbClr val="000000"/>
              </a:solidFill>
              <a:latin typeface="Arial"/>
            </a:endParaRPr>
          </a:p>
        </p:txBody>
      </p:sp>
      <p:sp>
        <p:nvSpPr>
          <p:cNvPr id="14" name="Retângulo 6"/>
          <p:cNvSpPr/>
          <p:nvPr/>
        </p:nvSpPr>
        <p:spPr>
          <a:xfrm>
            <a:off x="1166760" y="19368000"/>
            <a:ext cx="15105240" cy="26236440"/>
          </a:xfrm>
          <a:prstGeom prst="rect">
            <a:avLst/>
          </a:prstGeom>
          <a:noFill/>
          <a:ln w="0">
            <a:noFill/>
          </a:ln>
        </p:spPr>
        <p:style>
          <a:lnRef idx="0"/>
          <a:fillRef idx="0"/>
          <a:effectRef idx="0"/>
          <a:fontRef idx="minor"/>
        </p:style>
        <p:txBody>
          <a:bodyPr lIns="90000" rIns="90000" tIns="46800" bIns="46800" anchor="t">
            <a:spAutoFit/>
          </a:bodyPr>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indent="900000">
              <a:lnSpc>
                <a:spcPct val="130000"/>
              </a:lnSpc>
              <a:tabLst>
                <a:tab algn="l" pos="0"/>
                <a:tab algn="l" pos="3535200"/>
                <a:tab algn="l" pos="7070760"/>
                <a:tab algn="l" pos="10605960"/>
              </a:tabLst>
            </a:pPr>
            <a:r>
              <a:rPr b="0" lang="pt-BR" sz="3500" spc="-1" strike="noStrike">
                <a:solidFill>
                  <a:srgbClr val="000000"/>
                </a:solidFill>
                <a:latin typeface="Times New Roman"/>
                <a:ea typeface="Calibri"/>
              </a:rPr>
              <a:t>A controvérsia sobre a natureza jurídica do embrião criopreservado opõe três correntes: a natalista, majoritária no Brasil, para a qual a personalidade jurídica só se adquire com o nascimento com vida; a concepcionista, que a reconhece desde a concepção, ainda que extrauterina; e a da personalidade condicional, intermediária entre as duas (MARTINS; WINCK; MIRANDA, 2026, p. 318). O Código Civil (2026) não disciplina a forma exigida para o consentimento do genitor falecido quanto ao uso póstumo de seu material genético, lacuna parcialmente suprida pela Resolução CFM nº 2.320/2022 (2026), de caráter apenas ético-profissional e sem força de lei. O Enunciado nº 267 do CJF (2004) estendeu a regra do art. 1.798 do Código Civil, que exige herdeiro já concebido na abertura da sucessão, aos embriões formados por reprodução assistida, submetendo seus efeitos patrimoniais às regras da petição de herança.</a:t>
            </a:r>
            <a:r>
              <a:rPr b="0" lang="pt-BR" sz="3500" spc="-1" strike="noStrike">
                <a:solidFill>
                  <a:srgbClr val="000000"/>
                </a:solidFill>
                <a:latin typeface="Times New Roman"/>
                <a:ea typeface="Calibri"/>
              </a:rPr>
              <a:t> Persiste, assim, a tensão entre a igualdade absoluta entre os filhos (art. 227, §6º, CF) e a segurança jurídica dos coerdeiros já existentes (GONÇALVES, 2026, p. 38). No REsp 1.918.421/SP, o Superior Tribunal de Justiça (2021) fixou que a autorização para uso póstumo de embriões exige forma expressa e incontestável, “alcançada por meio do testamento ou instrumento que o valha em formalidade e garantia”, afastando a validade de contratos padrão firmados com clínicas de reprodução assistida. </a:t>
            </a:r>
            <a:r>
              <a:rPr b="0" lang="pt-BR" sz="3500" spc="-1" strike="noStrike">
                <a:solidFill>
                  <a:srgbClr val="000000"/>
                </a:solidFill>
                <a:latin typeface="Times New Roman"/>
                <a:ea typeface="Calibri"/>
              </a:rPr>
              <a:t>O Anteprojeto de Reforma do Código Civil (2026) tende a consolidar esse entendimento, exigindo escritura pública ou testamento público para a autorização do uso póstumo do material genético e fixando prazo de dois anos, contado da abertura da sucessão, para os efeitos sucessórios patrimoniais</a:t>
            </a:r>
            <a:r>
              <a:rPr b="0" lang="pt-BR" sz="3500" spc="-1" strike="noStrike" i="0">
                <a:solidFill>
                  <a:srgbClr val="000000"/>
                </a:solidFill>
                <a:latin typeface="Times New Roman"/>
                <a:ea typeface="Calibri"/>
              </a:rPr>
              <a:t> em favor do filho concebido </a:t>
            </a:r>
            <a:r>
              <a:rPr b="0" lang="pt-BR" sz="3500" spc="-1" strike="noStrike" i="1">
                <a:solidFill>
                  <a:srgbClr val="000000"/>
                </a:solidFill>
                <a:latin typeface="Times New Roman"/>
                <a:ea typeface="Calibri"/>
              </a:rPr>
              <a:t>post mortem</a:t>
            </a:r>
            <a:r>
              <a:rPr b="0" lang="pt-BR" sz="3500" spc="-1" strike="noStrike" i="0">
                <a:solidFill>
                  <a:srgbClr val="000000"/>
                </a:solidFill>
                <a:latin typeface="Times New Roman"/>
                <a:ea typeface="Calibri"/>
              </a:rPr>
              <a:t>.</a:t>
            </a: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p:txBody>
      </p:sp>
      <p:sp>
        <p:nvSpPr>
          <p:cNvPr id="16" name="CaixaDeTexto 14"/>
          <p:cNvSpPr/>
          <p:nvPr/>
        </p:nvSpPr>
        <p:spPr>
          <a:xfrm>
            <a:off x="16597440" y="8696160"/>
            <a:ext cx="6127200" cy="627480"/>
          </a:xfrm>
          <a:prstGeom prst="rect">
            <a:avLst/>
          </a:prstGeom>
          <a:noFill/>
          <a:ln w="0">
            <a:noFill/>
          </a:ln>
        </p:spPr>
        <p:style>
          <a:lnRef idx="0"/>
          <a:fillRef idx="0"/>
          <a:effectRef idx="0"/>
          <a:fontRef idx="minor"/>
        </p:style>
        <p:txBody>
          <a:bodyPr wrap="none" lIns="90000" rIns="90000" tIns="46800" bIns="46800" anchor="t">
            <a:spAutoFit/>
          </a:bodyPr>
          <a:p>
            <a:pPr>
              <a:lnSpc>
                <a:spcPct val="100000"/>
              </a:lnSpc>
              <a:tabLst>
                <a:tab algn="l" pos="0"/>
                <a:tab algn="l" pos="3535200"/>
                <a:tab algn="l" pos="7070760"/>
                <a:tab algn="l" pos="10605960"/>
              </a:tabLst>
            </a:pPr>
            <a:r>
              <a:rPr b="1" lang="pt-BR" sz="3500" spc="-1" strike="noStrike">
                <a:solidFill>
                  <a:srgbClr val="000000"/>
                </a:solidFill>
                <a:latin typeface="Times New Roman"/>
                <a:ea typeface="Times New Roman"/>
              </a:rPr>
              <a:t>3. CONSIDERAÇÕES FINAIS</a:t>
            </a:r>
            <a:endParaRPr b="0" lang="en-US" sz="3500" spc="-1" strike="noStrike">
              <a:solidFill>
                <a:srgbClr val="000000"/>
              </a:solidFill>
              <a:latin typeface="Arial"/>
            </a:endParaRPr>
          </a:p>
        </p:txBody>
      </p:sp>
      <p:sp>
        <p:nvSpPr>
          <p:cNvPr id="17" name="Retângulo 15"/>
          <p:cNvSpPr/>
          <p:nvPr/>
        </p:nvSpPr>
        <p:spPr>
          <a:xfrm>
            <a:off x="16578360" y="9326520"/>
            <a:ext cx="14994000" cy="8096760"/>
          </a:xfrm>
          <a:prstGeom prst="rect">
            <a:avLst/>
          </a:prstGeom>
          <a:noFill/>
          <a:ln w="0">
            <a:noFill/>
          </a:ln>
        </p:spPr>
        <p:style>
          <a:lnRef idx="0"/>
          <a:fillRef idx="0"/>
          <a:effectRef idx="0"/>
          <a:fontRef idx="minor"/>
        </p:style>
        <p:txBody>
          <a:bodyPr lIns="90000" rIns="90000" tIns="46800" bIns="46800" anchor="t">
            <a:spAutoFit/>
          </a:bodyPr>
          <a:p>
            <a:pPr algn="just" indent="900000">
              <a:lnSpc>
                <a:spcPct val="130000"/>
              </a:lnSpc>
              <a:tabLst>
                <a:tab algn="l" pos="0"/>
                <a:tab algn="l" pos="3535200"/>
                <a:tab algn="l" pos="7070760"/>
                <a:tab algn="l" pos="10605960"/>
              </a:tabLst>
            </a:pPr>
            <a:r>
              <a:rPr b="0" lang="pt-BR" sz="3500" spc="-1" strike="noStrike">
                <a:solidFill>
                  <a:srgbClr val="000000"/>
                </a:solidFill>
                <a:latin typeface="Times New Roman"/>
                <a:ea typeface="Calibri"/>
              </a:rPr>
              <a:t>Conclui-se que o </a:t>
            </a:r>
            <a:r>
              <a:rPr b="0" lang="pt-BR" sz="3500" spc="-1" strike="noStrike" i="1">
                <a:solidFill>
                  <a:srgbClr val="000000"/>
                </a:solidFill>
                <a:latin typeface="Times New Roman"/>
                <a:ea typeface="Calibri"/>
              </a:rPr>
              <a:t>status</a:t>
            </a:r>
            <a:r>
              <a:rPr b="0" lang="pt-BR" sz="3500" spc="-1" strike="noStrike" i="0">
                <a:solidFill>
                  <a:srgbClr val="000000"/>
                </a:solidFill>
                <a:latin typeface="Times New Roman"/>
                <a:ea typeface="Calibri"/>
              </a:rPr>
              <a:t> jurídico do embrião criopreservado permanece indefinido no ordenamento brasileiro, diante da divergência entre as teorias natalista, concepcionista e da personalidade condicional. Ainda assim, a criança concebida por reprodução assistida póstuma pode figurar como herdeira do genitor falecido, desde que atendida a exigência formal de consentimento expresso, por testamento ou documento análogo, entendimento adotado pelo STJ e que tende a ser consolidado pelo anteprojeto de atualização do Código Civil. Trata-se de solução de compromisso que concilia a igualdade entre os filhos, consagrada constitucionalmente, com a segurança jurídica dos demais herdeiros.</a:t>
            </a: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p:txBody>
      </p:sp>
      <p:sp>
        <p:nvSpPr>
          <p:cNvPr id="18" name="CaixaDeTexto 16"/>
          <p:cNvSpPr/>
          <p:nvPr/>
        </p:nvSpPr>
        <p:spPr>
          <a:xfrm>
            <a:off x="16595640" y="15977880"/>
            <a:ext cx="3704040" cy="627480"/>
          </a:xfrm>
          <a:prstGeom prst="rect">
            <a:avLst/>
          </a:prstGeom>
          <a:noFill/>
          <a:ln w="0">
            <a:noFill/>
          </a:ln>
        </p:spPr>
        <p:style>
          <a:lnRef idx="0"/>
          <a:fillRef idx="0"/>
          <a:effectRef idx="0"/>
          <a:fontRef idx="minor"/>
        </p:style>
        <p:txBody>
          <a:bodyPr wrap="none" lIns="90000" rIns="90000" tIns="46800" bIns="46800" anchor="t">
            <a:spAutoFit/>
          </a:bodyPr>
          <a:p>
            <a:pPr algn="ctr">
              <a:lnSpc>
                <a:spcPct val="100000"/>
              </a:lnSpc>
              <a:tabLst>
                <a:tab algn="l" pos="0"/>
                <a:tab algn="l" pos="3535200"/>
                <a:tab algn="l" pos="7070760"/>
                <a:tab algn="l" pos="10605960"/>
              </a:tabLst>
            </a:pPr>
            <a:r>
              <a:rPr b="1" lang="pt-BR" sz="3500" spc="-1" strike="noStrike">
                <a:solidFill>
                  <a:srgbClr val="000000"/>
                </a:solidFill>
                <a:latin typeface="Times New Roman"/>
                <a:ea typeface="Times New Roman"/>
              </a:rPr>
              <a:t>4. REFERÊNCIAS</a:t>
            </a:r>
            <a:endParaRPr b="0" lang="en-US" sz="3500" spc="-1" strike="noStrike">
              <a:solidFill>
                <a:srgbClr val="000000"/>
              </a:solidFill>
              <a:latin typeface="Arial"/>
            </a:endParaRPr>
          </a:p>
        </p:txBody>
      </p:sp>
      <p:sp>
        <p:nvSpPr>
          <p:cNvPr id="19" name="Retângulo 17"/>
          <p:cNvSpPr/>
          <p:nvPr/>
        </p:nvSpPr>
        <p:spPr>
          <a:xfrm>
            <a:off x="16589520" y="16877880"/>
            <a:ext cx="15104880" cy="15566040"/>
          </a:xfrm>
          <a:prstGeom prst="rect">
            <a:avLst/>
          </a:prstGeom>
          <a:noFill/>
          <a:ln w="0">
            <a:noFill/>
          </a:ln>
        </p:spPr>
        <p:style>
          <a:lnRef idx="0"/>
          <a:fillRef idx="0"/>
          <a:effectRef idx="0"/>
          <a:fontRef idx="minor"/>
        </p:style>
        <p:txBody>
          <a:bodyPr lIns="90000" rIns="90000" tIns="46800" bIns="46800" anchor="t">
            <a:spAutoFit/>
          </a:bodyPr>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ARAUJO, Julia Picinato Medeiros de; ARAUJO, Carlos Henrique Medeiros de. Biodireito e legislação na reprodução assistida. </a:t>
            </a:r>
            <a:r>
              <a:rPr b="1" lang="pt-BR" sz="2800" spc="-1" strike="noStrike" i="0">
                <a:solidFill>
                  <a:srgbClr val="000000"/>
                </a:solidFill>
                <a:latin typeface="Times New Roman"/>
                <a:ea typeface="Times New Roman"/>
              </a:rPr>
              <a:t>Medicina (Ribeirão Preto, Online), v. 51, n. 3, p. 217-235, 2018</a:t>
            </a:r>
            <a:r>
              <a:rPr b="0" lang="pt-BR" sz="2800" spc="-1" strike="noStrike" i="0">
                <a:solidFill>
                  <a:srgbClr val="000000"/>
                </a:solidFill>
                <a:latin typeface="Times New Roman"/>
                <a:ea typeface="Times New Roman"/>
              </a:rPr>
              <a:t>. Disponível em: http://dx.doi.org/10.11606/issn.2176-7262.v51i3p217-235. Acesso em: 21 agosto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BRASIL. Conselho da Justiça Federal. Enunciado 267. III Jornada de Direito Civil. Comissão de Trabalho: Direito das Sucessões. Brasília, DF: Conselho da Justiça Federal, 2004. Disponível em: https://www.cjf.jus.br/enunciados/enunciado/526. Acesso em: 17 setembro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BRASIL. Conselho Federal de Medicina. Resolução n. 2.320, de 20 de setembro de 2022. Adota normas éticas para a utilização de técnicas de reprodução assistida. Publicada no Diário Oficial da União de 20 de setembro de 2022, Seção I, p. 107. Disponível em: https://sistemas.cfm.org.br/normas/arquivos/resolucoes/BR/2022/2320_2022.pdf. Acesso em: 21 agosto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BRASIL. Constituição (1988). Constituição da República Federativa do Brasil: promulgada em 5 de outubro de 1988. Disponível em: http://www.planalto.gov.br/ccivil_03/Constituicao/Constituicao.htm. Acesso em: 21 agosto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BRASIL. Lei n. 10.406, de 10 de janeiro de 2002. Institui o Código Civil. Disponível em: http://www.planalto.gov.br/ccivil_03/Leis/2002/L10406.htm. Acesso em: 21 agosto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BRASIL. Senado Federal. Comissão de Juristas Responsável pela Revisão e Atualização do Código Civil. Relatório Final. Brasília, DF: Senado Federal, 2024. [Anteprojeto que deu origem ao Projeto de Lei nº 4, de 2025, em tramitação no Senado Federal]. Disponível em: https://www12.senado.leg.br/assessoria-de-imprensa/arquivos/anteprojeto-codigo-civil-comissao-de-juristas-2023_2024.pdf. Acesso em: 17 setembro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Calibri"/>
              </a:rPr>
              <a:t>BRASIL. Superior Tribunal de Justiça. Recurso Especial n. 1.918.421/SP. Relator: Ministro Marco Buzzi. Relator para acórdão: Ministro Luis Felipe Salomão. Data de julgamento: 8 jun. 2021. Disponível em:</a:t>
            </a:r>
            <a:r>
              <a:rPr b="0" lang="pt-BR" sz="2800" spc="-1" strike="noStrike">
                <a:solidFill>
                  <a:srgbClr val="000000"/>
                </a:solidFill>
                <a:latin typeface="Times New Roman"/>
                <a:ea typeface="Times New Roman"/>
              </a:rPr>
              <a:t>https://www.stj.jus.br/websecstj/cgi/revista/REJ.cgi/ATC?seq=133249320&amp;tipo=0&amp;formato=PDF&amp;salvar=false. Acesso em: 21 agosto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GONÇALVES, Carlos Roberto. </a:t>
            </a:r>
            <a:r>
              <a:rPr b="1" lang="pt-BR" sz="2800" spc="-1" strike="noStrike">
                <a:solidFill>
                  <a:srgbClr val="000000"/>
                </a:solidFill>
                <a:latin typeface="Times New Roman"/>
                <a:ea typeface="Times New Roman"/>
              </a:rPr>
              <a:t>Direito Civil Brasileiro - Direito das Sucessões Vol. 7 - 20ª Edição 2026</a:t>
            </a:r>
            <a:r>
              <a:rPr b="0" lang="pt-BR" sz="2800" spc="-1" strike="noStrike">
                <a:solidFill>
                  <a:srgbClr val="000000"/>
                </a:solidFill>
                <a:latin typeface="Times New Roman"/>
                <a:ea typeface="Times New Roman"/>
              </a:rPr>
              <a:t>. 20. ed. Rio de Janeiro: SRV, 2026. </a:t>
            </a:r>
            <a:r>
              <a:rPr b="0" i="1" lang="pt-BR" sz="2800" spc="-1" strike="noStrike">
                <a:solidFill>
                  <a:srgbClr val="000000"/>
                </a:solidFill>
                <a:latin typeface="Times New Roman"/>
                <a:ea typeface="Times New Roman"/>
              </a:rPr>
              <a:t>E-book.</a:t>
            </a:r>
            <a:r>
              <a:rPr b="0" lang="pt-BR" sz="2800" spc="-1" strike="noStrike">
                <a:solidFill>
                  <a:srgbClr val="000000"/>
                </a:solidFill>
                <a:latin typeface="Times New Roman"/>
                <a:ea typeface="Times New Roman"/>
              </a:rPr>
              <a:t> ISBN Digital: 9786584004610. Disponível em: https://integrada.minhabiblioteca.com.br/reader/books/9786584004610/. Acesso em: 08 outubro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MARTINS, Brenda Woloski; WINCK, Morgana Dulce; MIRANDA, Roberta Drehmer de. Reprodução assistida </a:t>
            </a:r>
            <a:r>
              <a:rPr b="0" i="1" lang="pt-BR" sz="2800" spc="-1" strike="noStrike">
                <a:solidFill>
                  <a:srgbClr val="000000"/>
                </a:solidFill>
                <a:latin typeface="Times New Roman"/>
                <a:ea typeface="Times New Roman"/>
              </a:rPr>
              <a:t>post mortem</a:t>
            </a:r>
            <a:r>
              <a:rPr b="0" lang="pt-BR" sz="2800" spc="-1" strike="noStrike">
                <a:solidFill>
                  <a:srgbClr val="000000"/>
                </a:solidFill>
                <a:latin typeface="Times New Roman"/>
                <a:ea typeface="Times New Roman"/>
              </a:rPr>
              <a:t> no projeto de Código Civil. </a:t>
            </a:r>
            <a:r>
              <a:rPr b="1" lang="pt-BR" sz="2800" spc="-1" strike="noStrike">
                <a:solidFill>
                  <a:srgbClr val="000000"/>
                </a:solidFill>
                <a:latin typeface="Times New Roman"/>
                <a:ea typeface="Times New Roman"/>
              </a:rPr>
              <a:t>Res Severa Verum Gaudium, Porto Alegre, v. 11, n. 1bis, p. 315-321, jul. 2026</a:t>
            </a:r>
            <a:r>
              <a:rPr b="0" lang="pt-BR" sz="2800" spc="-1" strike="noStrike">
                <a:solidFill>
                  <a:srgbClr val="000000"/>
                </a:solidFill>
                <a:latin typeface="Times New Roman"/>
                <a:ea typeface="Times New Roman"/>
              </a:rPr>
              <a:t>. Disponível em: https://seer.ufrgs.br/index.php/resseveraverumgaudium/article/view/156601/99922. Acesso em: 08 outubro 2026.</a:t>
            </a:r>
            <a:endParaRPr b="0" lang="en-US" sz="3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1005</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2012-10-22T12:34:17Z</dcterms:created>
  <dc:creator>Greicy Mara Mengue Feniman De Stefano</dc:creator>
  <dc:description/>
  <dc:language>en-US</dc:language>
  <cp:lastModifiedBy>Antonieta</cp:lastModifiedBy>
  <dcterms:modified xsi:type="dcterms:W3CDTF">2026-10-12T17:49:28Z</dcterms:modified>
  <cp:revision>96</cp:revision>
  <dc:subject/>
  <dc:title>Slide 1</dc:title>
</cp:coreProperties>
</file>