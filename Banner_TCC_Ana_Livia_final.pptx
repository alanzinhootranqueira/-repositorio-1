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399288" cy="3599973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16773-EC26-4F1E-A51B-0E7958F566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720" y="1441080"/>
            <a:ext cx="29157840" cy="6000840"/>
          </a:xfrm>
          <a:prstGeom prst="rect">
            <a:avLst/>
          </a:prstGeom>
          <a:noFill/>
          <a:ln w="0">
            <a:noFill/>
          </a:ln>
        </p:spPr>
        <p:txBody>
          <a:bodyPr lIns="390960" rIns="390960" tIns="195480" bIns="195480" anchor="ctr">
            <a:noAutofit/>
          </a:bodyPr>
          <a:p>
            <a:pPr indent="0" algn="ctr">
              <a:buNone/>
              <a:tabLst>
                <a:tab algn="l" pos="0"/>
                <a:tab algn="l" pos="3908520"/>
                <a:tab algn="l" pos="7816680"/>
              </a:tabLst>
            </a:pPr>
            <a:r>
              <a:rPr b="0" lang="en-US" sz="18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720" y="8399520"/>
            <a:ext cx="29157840" cy="23758560"/>
          </a:xfrm>
          <a:prstGeom prst="rect">
            <a:avLst/>
          </a:prstGeom>
          <a:noFill/>
          <a:ln w="0">
            <a:noFill/>
          </a:ln>
        </p:spPr>
        <p:txBody>
          <a:bodyPr lIns="390960" rIns="390960" tIns="195480" bIns="195480" anchor="t">
            <a:normAutofit/>
          </a:bodyPr>
          <a:p>
            <a:pPr marL="1465200" indent="-1465200">
              <a:spcBef>
                <a:spcPts val="3424"/>
              </a:spcBef>
              <a:buClr>
                <a:srgbClr val="000000"/>
              </a:buClr>
              <a:buFont typeface="Arial"/>
              <a:buChar char="•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1" marL="3174840" indent="-1220760">
              <a:spcBef>
                <a:spcPts val="3424"/>
              </a:spcBef>
              <a:buClr>
                <a:srgbClr val="000000"/>
              </a:buClr>
              <a:buFont typeface="Arial"/>
              <a:buChar char="–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2" marL="4886280" indent="-976320">
              <a:spcBef>
                <a:spcPts val="3424"/>
              </a:spcBef>
              <a:buClr>
                <a:srgbClr val="000000"/>
              </a:buClr>
              <a:buFont typeface="Arial"/>
              <a:buChar char="•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3" marL="6840360" indent="-975960">
              <a:spcBef>
                <a:spcPts val="3424"/>
              </a:spcBef>
              <a:buClr>
                <a:srgbClr val="000000"/>
              </a:buClr>
              <a:buFont typeface="Arial"/>
              <a:buChar char="–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4" marL="8794800" indent="-976320">
              <a:spcBef>
                <a:spcPts val="3424"/>
              </a:spcBef>
              <a:buClr>
                <a:srgbClr val="000000"/>
              </a:buClr>
              <a:buFont typeface="Arial"/>
              <a:buChar char="»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5" marL="8794800" indent="-976320">
              <a:spcBef>
                <a:spcPts val="3424"/>
              </a:spcBef>
              <a:buClr>
                <a:srgbClr val="000000"/>
              </a:buClr>
              <a:buFont typeface="Arial"/>
              <a:buChar char="»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  <a:p>
            <a:pPr lvl="6" marL="8794800" indent="-976320">
              <a:spcBef>
                <a:spcPts val="3424"/>
              </a:spcBef>
              <a:buClr>
                <a:srgbClr val="000000"/>
              </a:buClr>
              <a:buFont typeface="Arial"/>
              <a:buChar char="»"/>
              <a:tabLst>
                <a:tab algn="l" pos="3908520"/>
                <a:tab algn="l" pos="7816680"/>
              </a:tabLst>
            </a:pPr>
            <a:r>
              <a:rPr b="0" lang="en-US" sz="137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3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620360" y="33366240"/>
            <a:ext cx="7558200" cy="1917360"/>
          </a:xfrm>
          <a:prstGeom prst="rect">
            <a:avLst/>
          </a:prstGeom>
          <a:noFill/>
          <a:ln w="0">
            <a:noFill/>
          </a:ln>
        </p:spPr>
        <p:txBody>
          <a:bodyPr lIns="390960" rIns="390960" tIns="195480" bIns="19548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3535200"/>
                <a:tab algn="l" pos="7070760"/>
                <a:tab algn="l" pos="10605960"/>
              </a:tabLst>
              <a:defRPr b="0" lang="pt-BR" sz="51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5100" spc="-1" strike="noStrike">
                <a:solidFill>
                  <a:srgbClr val="898989"/>
                </a:solidFill>
                <a:latin typeface="Calibri"/>
              </a:rPr>
              <a:t>&lt;date/time&gt;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1069640" y="33366240"/>
            <a:ext cx="10260000" cy="1917360"/>
          </a:xfrm>
          <a:prstGeom prst="rect">
            <a:avLst/>
          </a:prstGeom>
          <a:noFill/>
          <a:ln w="0">
            <a:noFill/>
          </a:ln>
        </p:spPr>
        <p:txBody>
          <a:bodyPr lIns="390960" rIns="390960" tIns="195480" bIns="195480" anchor="ctr">
            <a:noAutofit/>
          </a:bodyPr>
          <a:p>
            <a:pPr indent="0">
              <a:buNone/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6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23220000" y="33366240"/>
            <a:ext cx="7558200" cy="1917360"/>
          </a:xfrm>
          <a:prstGeom prst="rect">
            <a:avLst/>
          </a:prstGeom>
          <a:noFill/>
          <a:ln w="0">
            <a:noFill/>
          </a:ln>
        </p:spPr>
        <p:txBody>
          <a:bodyPr lIns="390960" rIns="390960" tIns="195480" bIns="19548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3535200"/>
                <a:tab algn="l" pos="7070760"/>
                <a:tab algn="l" pos="10605960"/>
              </a:tabLst>
              <a:defRPr b="0" lang="pt-BR" sz="5100" spc="-1" strike="noStrike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3535200"/>
                <a:tab algn="l" pos="7070760"/>
                <a:tab algn="l" pos="10605960"/>
              </a:tabLst>
            </a:pPr>
            <a:fld id="{8B2D8933-C955-425E-BF02-2F26B315226D}" type="slidenum">
              <a:rPr b="0" lang="pt-BR" sz="51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/>
          <p:nvPr/>
        </p:nvSpPr>
        <p:spPr>
          <a:xfrm>
            <a:off x="1684440" y="5813280"/>
            <a:ext cx="303148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Ana Lívia Alexandre Monteiro¹; Antonieta Lima Brauer²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Box 7"/>
          <p:cNvSpPr/>
          <p:nvPr/>
        </p:nvSpPr>
        <p:spPr>
          <a:xfrm>
            <a:off x="-90360" y="579600"/>
            <a:ext cx="32259600" cy="14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Centro Universitário Sudoeste Paulista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(Mantida pela ICE – Instituição Chaddad de Ensino  Ltda)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tângulo 22"/>
          <p:cNvSpPr/>
          <p:nvPr/>
        </p:nvSpPr>
        <p:spPr>
          <a:xfrm>
            <a:off x="1165320" y="6880320"/>
            <a:ext cx="3081816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¹</a:t>
            </a:r>
            <a:r>
              <a:rPr b="0" lang="pt-BR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Aluna do Curso de Direito do Centro Universitário Sudoeste Paulista –UniFSP, Avaré/SP; ²Professora Orientadora do Centro Universitário Sudoeste Paulista – UniFSP, Avaré/SP.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Imagem 6" descr=""/>
          <p:cNvPicPr/>
          <p:nvPr/>
        </p:nvPicPr>
        <p:blipFill>
          <a:blip r:embed="rId1"/>
          <a:stretch/>
        </p:blipFill>
        <p:spPr>
          <a:xfrm>
            <a:off x="933480" y="811080"/>
            <a:ext cx="6561000" cy="3767400"/>
          </a:xfrm>
          <a:prstGeom prst="rect">
            <a:avLst/>
          </a:prstGeom>
          <a:ln w="0">
            <a:noFill/>
          </a:ln>
        </p:spPr>
      </p:pic>
      <p:pic>
        <p:nvPicPr>
          <p:cNvPr id="9" name="Picture 20" descr="Resultado de imagem para logotipo do curso de direito"/>
          <p:cNvPicPr/>
          <p:nvPr/>
        </p:nvPicPr>
        <p:blipFill>
          <a:blip r:embed="rId2"/>
          <a:stretch/>
        </p:blipFill>
        <p:spPr>
          <a:xfrm>
            <a:off x="27416160" y="299880"/>
            <a:ext cx="4567320" cy="4246560"/>
          </a:xfrm>
          <a:prstGeom prst="rect">
            <a:avLst/>
          </a:prstGeom>
          <a:ln w="0">
            <a:noFill/>
          </a:ln>
        </p:spPr>
      </p:pic>
      <p:sp>
        <p:nvSpPr>
          <p:cNvPr id="10" name="CaixaDeTexto 12"/>
          <p:cNvSpPr/>
          <p:nvPr/>
        </p:nvSpPr>
        <p:spPr>
          <a:xfrm>
            <a:off x="6235560" y="2265480"/>
            <a:ext cx="2128536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5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REPRODUÇÃO ASSISTIDA PÓSTUMA E OS DIREITOS SUCESSÓRIOS: O </a:t>
            </a:r>
            <a:r>
              <a:rPr b="1" i="1" lang="pt-BR" sz="5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STATUS</a:t>
            </a:r>
            <a:r>
              <a:rPr b="1" lang="pt-BR" sz="5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JURÍDICO DO EMBRIÃO CRIOPRESERVADO E O DIREITO À HERANÇA APÓS A MORTE DE UM DOS GENITORES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aixaDeTexto 1"/>
          <p:cNvSpPr/>
          <p:nvPr/>
        </p:nvSpPr>
        <p:spPr>
          <a:xfrm>
            <a:off x="1182600" y="8696160"/>
            <a:ext cx="37148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INTRODUÇÃO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CaixaDeTexto 2"/>
          <p:cNvSpPr/>
          <p:nvPr/>
        </p:nvSpPr>
        <p:spPr>
          <a:xfrm>
            <a:off x="1166760" y="9328320"/>
            <a:ext cx="15105240" cy="120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  <a:tab algn="l" pos="1608120"/>
                <a:tab algn="l" pos="3216240"/>
                <a:tab algn="l" pos="4824360"/>
                <a:tab algn="l" pos="6432480"/>
                <a:tab algn="l" pos="8040600"/>
                <a:tab algn="l" pos="9648720"/>
              </a:tabLst>
            </a:pP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 avanço das técnicas de reprodução humana assistida tornou possível que a concepção ocorra fora do corpo humano e que embriões sejam criopreservados por tempo indeterminado, inclusive após a morte de um dos genitores 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(ARAUJO; ARAUJO, 2018, p. 223)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 Essa possibilidade coloca em xeque institutos tradicionais do direito sucessório brasileiro: o princípio da Saisine e a capacidade sucessória passiva (arts. 1.784 e 1.798 do Código Civil) pressupõem que o herdeiro já exista ou esteja concebido na abertura da sucessão, pressuposto que a criança concebida por reprodução assistida póstuma, por definição, não satisfaz 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(GONÇALVES, 2026, p. 13)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 O presente trabalho tem por objetivo analisar o </a:t>
            </a:r>
            <a:r>
              <a:rPr b="0" lang="pt-BR" sz="3500" spc="-1" strike="noStrike" i="1">
                <a:solidFill>
                  <a:srgbClr val="000000"/>
                </a:solidFill>
                <a:latin typeface="Times New Roman"/>
                <a:ea typeface="Times New Roman"/>
              </a:rPr>
              <a:t>status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jurídico do embrião criopreservado e o direito à herança dessa criança, à luz da doutrina, da legislação e da jurisprudência do Superior Tribunal de Justiça.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1608120"/>
                <a:tab algn="l" pos="3216240"/>
                <a:tab algn="l" pos="4824360"/>
                <a:tab algn="l" pos="6432480"/>
                <a:tab algn="l" pos="8040600"/>
                <a:tab algn="l" pos="964872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1608120"/>
                <a:tab algn="l" pos="3216240"/>
                <a:tab algn="l" pos="4824360"/>
                <a:tab algn="l" pos="6432480"/>
                <a:tab algn="l" pos="8040600"/>
                <a:tab algn="l" pos="964872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1608120"/>
                <a:tab algn="l" pos="3216240"/>
                <a:tab algn="l" pos="4824360"/>
                <a:tab algn="l" pos="6432480"/>
                <a:tab algn="l" pos="8040600"/>
                <a:tab algn="l" pos="964872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1608120"/>
                <a:tab algn="l" pos="3216240"/>
                <a:tab algn="l" pos="4824360"/>
                <a:tab algn="l" pos="6432480"/>
                <a:tab algn="l" pos="8040600"/>
                <a:tab algn="l" pos="964872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tângulo 4"/>
          <p:cNvSpPr/>
          <p:nvPr/>
        </p:nvSpPr>
        <p:spPr>
          <a:xfrm>
            <a:off x="1182600" y="18472320"/>
            <a:ext cx="1619892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2. REFERENCIAL TEÓRICO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tângulo 6"/>
          <p:cNvSpPr/>
          <p:nvPr/>
        </p:nvSpPr>
        <p:spPr>
          <a:xfrm>
            <a:off x="1166760" y="18411840"/>
            <a:ext cx="15105240" cy="262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 indent="900000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A controvérsia sobre a natureza jurídica do embrião criopreservado opõe três correntes: a natalista, majoritária no Brasil, para a qual a personalidade jurídica só se adquire com o nascimento com vida; a concepcionista, que a reconhece desde a concepção, ainda que extrauterina; e a da personalidade condicional, intermediária entre as duas (MARTINS; WINCK; MIRANDA, 2026). O Código Civil (2026) não disciplina a forma exigida para o consentimento do genitor falecido quanto ao uso póstumo de seu material genético, lacuna parcialmente suprida pela Resolução CFM nº 2.320/2022 (2026), de caráter apenas ético-profissional e sem força de lei. O princípio da Saisine e a capacidade sucessória passiva (arts. 1.784 e 1.798 do Código Civil) pressupõem herdeiro já concebido na abertura da sucessão — pressuposto que a criança concebida </a:t>
            </a:r>
            <a:r>
              <a:rPr b="0" i="1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post mortem 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não satisfaz 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(GONÇALVES, 2026, p. 13)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. Persiste, assim, a tensão entre a igualdade absoluta entre os filhos (art. 227, §6º, CF) e a segurança jurídica dos coerdeiros já existentes (GONÇALVES, 2026). No REsp 1.918.421/SP, o Superior Tribunal de Justiça (2021) fixou que a autorização para uso póstumo de embriões exige forma expressa e incontestável, “alcançada por meio do testamento ou instrumento que o valha em formalidade e garantia”, afastando a validade de contratos padrão firmados com clínicas de reprodução assistida. 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O Anteprojeto de Reforma do Código Civil (2026) tende a consolidar esse entendimento, exigindo escritura pública ou testamento público para a autorização do uso póstumo do material genético e fixando prazo de dois anos, contado da abertura da sucessão, para os efeitos sucessórios patrimoniais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tângulo 8"/>
          <p:cNvSpPr/>
          <p:nvPr/>
        </p:nvSpPr>
        <p:spPr>
          <a:xfrm>
            <a:off x="16570440" y="8634240"/>
            <a:ext cx="14994000" cy="136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em favor do filho concebido </a:t>
            </a:r>
            <a:r>
              <a:rPr b="0" i="1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post mortem</a:t>
            </a: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CaixaDeTexto 14"/>
          <p:cNvSpPr/>
          <p:nvPr/>
        </p:nvSpPr>
        <p:spPr>
          <a:xfrm>
            <a:off x="16597440" y="9674280"/>
            <a:ext cx="612720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CONSIDERAÇÕES FINAIS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etângulo 15"/>
          <p:cNvSpPr/>
          <p:nvPr/>
        </p:nvSpPr>
        <p:spPr>
          <a:xfrm>
            <a:off x="16578360" y="10304640"/>
            <a:ext cx="14994000" cy="80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 indent="900000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0" lang="pt-BR" sz="3500" spc="-1" strike="noStrike">
                <a:solidFill>
                  <a:srgbClr val="000000"/>
                </a:solidFill>
                <a:latin typeface="Times New Roman"/>
                <a:ea typeface="Calibri"/>
              </a:rPr>
              <a:t>Conclui-se que a criança concebida por reprodução assistida póstuma pode figurar como herdeira do genitor falecido, desde que atendida a exigência formal de consentimento expresso, por testamento ou documento análogo, consoante entendimento consolidado tanto pela jurisprudência do STJ quanto pelo anteprojeto de atualização do Código Civil. Trata-se de solução de compromisso que concilia a igualdade entre os filhos, consagrada constitucionalmente, com a segurança jurídica dos demais herdeiros.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CaixaDeTexto 16"/>
          <p:cNvSpPr/>
          <p:nvPr/>
        </p:nvSpPr>
        <p:spPr>
          <a:xfrm>
            <a:off x="16595640" y="16305120"/>
            <a:ext cx="37040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3535200"/>
                <a:tab algn="l" pos="7070760"/>
                <a:tab algn="l" pos="10605960"/>
              </a:tabLst>
            </a:pPr>
            <a:r>
              <a:rPr b="1" lang="pt-BR" sz="35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 REFERÊNCIAS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tângulo 17"/>
          <p:cNvSpPr/>
          <p:nvPr/>
        </p:nvSpPr>
        <p:spPr>
          <a:xfrm>
            <a:off x="16589520" y="17208360"/>
            <a:ext cx="15104880" cy="155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ARAUJO, Julia Picinato Medeiros de; ARAUJO, Carlos Henrique Medeiros de. Biodireito e legislação na reprodução assistida. </a:t>
            </a:r>
            <a:r>
              <a:rPr b="1" lang="pt-BR" sz="3000" spc="-1" strike="noStrike" i="0">
                <a:solidFill>
                  <a:srgbClr val="000000"/>
                </a:solidFill>
                <a:latin typeface="Times New Roman"/>
                <a:ea typeface="Times New Roman"/>
              </a:rPr>
              <a:t>Medicina (Ribeirão Preto, Online), v. 51, n. 3, p. 217-235, 2018</a:t>
            </a:r>
            <a:r>
              <a:rPr b="0" lang="pt-BR" sz="3000" spc="-1" strike="noStrike" i="0">
                <a:solidFill>
                  <a:srgbClr val="000000"/>
                </a:solidFill>
                <a:latin typeface="Times New Roman"/>
                <a:ea typeface="Times New Roman"/>
              </a:rPr>
              <a:t>. Disponível em: http://dx.doi.org/10.11606/issn.2176-7262.v51i3p217-235. Acesso em: 21 agosto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BRASIL. Conselho Federal de Medicina. Resolução n. 2.320, de 20 de setembro de 2022. Adota normas éticas para a utilização de técnicas de reprodução assistida. Publicada no Diário Oficial da União de 20 de setembro de 2022, Seção I, p. 107. Disponível em: https://sistemas.cfm.org.br/normas/arquivos/resolucoes/BR/2022/2320_2022.pdf. Acesso em: 21 agosto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BRASIL. Constituição (1988). Constituição da República Federativa do Brasil: promulgada em 5 de outubro de 1988. Disponível em: http://www.planalto.gov.br/ccivil_03/Constituicao/Constituicao.htm. Acesso em: 21 agosto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BRASIL. Lei n. 10.406, de 10 de janeiro de 2002. Institui o Código Civil. Disponível em: http://www.planalto.gov.br/ccivil_03/Leis/2002/L10406.htm. Acesso em: 21 agosto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BRASIL. Senado Federal. Comissão de Juristas Responsável pela Revisão e Atualização do Código Civil. Relatório Final. Brasília, DF: Senado Federal, 2024. [Anteprojeto que deu origem ao Projeto de Lei nº 4, de 2025, em tramitação no Senado Federal]. Disponível em: https://www12.senado.leg.br/assessoria-de-imprensa/arquivos/anteprojeto-codigo-civil-comissao-de-juristas-2023_2024.pdf. Acesso em: 17 setembro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Calibri"/>
              </a:rPr>
              <a:t>BRASIL. Superior Tribunal de Justiça. Recurso Especial n. 1.918.421/SP. Relator: Ministro Marco Buzzi. Relator para acórdão: Ministro Luis Felipe Salomão. Data de julgamento: 8 jun. 2021. Disponível em:</a:t>
            </a: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https://www.stj.jus.br/websecstj/cgi/revista/REJ.cgi/ATC?seq=133249320&amp;tipo=0&amp;formato=PDF&amp;salvar=false. Acesso em: 21 agosto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GONÇALVES, Carlos Roberto. </a:t>
            </a:r>
            <a:r>
              <a:rPr b="1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Direito Civil Brasileiro - Direito das Sucessões Vol. 7 - 20ª Edição 2026</a:t>
            </a: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 20. ed. Rio de Janeiro: SRV, 2026. </a:t>
            </a:r>
            <a:r>
              <a:rPr b="0" i="1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E-book.</a:t>
            </a: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ISBN Digital: 9786584004610. Disponível em: https://integrada.minhabiblioteca.com.br/reader/books/9786584004610/. Acesso em: 08 outubro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4059360"/>
                <a:tab algn="l" pos="7070760"/>
                <a:tab algn="l" pos="10605960"/>
              </a:tabLst>
            </a:pP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MARTINS, Brenda Woloski; WINCK, Morgana Dulce; MIRANDA, Roberta Drehmer de. Reprodução assistida </a:t>
            </a:r>
            <a:r>
              <a:rPr b="0" i="1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post mortem</a:t>
            </a: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no projeto de Código Civil. </a:t>
            </a:r>
            <a:r>
              <a:rPr b="1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 Severa Verum Gaudium, Porto Alegre, v. 11, n. 1bis, p. 315-321, jul. 2026</a:t>
            </a:r>
            <a:r>
              <a:rPr b="0" lang="pt-BR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 Disponível em: https://seer.ufrgs.br/index.php/resseveraverumgaudium/article/view/156601/99922. Acesso em: 08 outubro 2026.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2012-10-22T12:34:17Z</dcterms:created>
  <dc:creator>Greicy Mara Mengue Feniman De Stefano</dc:creator>
  <dc:description/>
  <dc:language>en-US</dc:language>
  <cp:lastModifiedBy>Antonieta</cp:lastModifiedBy>
  <dcterms:modified xsi:type="dcterms:W3CDTF">2026-10-12T17:49:28Z</dcterms:modified>
  <cp:revision>96</cp:revision>
  <dc:subject/>
  <dc:title>Slide 1</dc:title>
</cp:coreProperties>
</file>